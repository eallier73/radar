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6488528-6F0E-4BFD-9341-321C04D2B030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D4C6B8-AE9E-4840-AF50-DE12BAEF73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B5F307-DA4F-4D92-8875-1E87BDB07AA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D59BE7-CFF4-43AA-90B1-3136BC9E25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63B8DD-4987-4FA0-8DE8-CDC24291B1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EC0FDD-B627-4824-BF19-EF8BE373818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5E2FFD-3D15-4D46-BE60-A8AEABD411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793D34-E581-4AE4-8BF7-E91F600AAC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B014C3-E125-4A69-B578-3BC3FC6F7F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17CA7B-A234-459A-9BA0-8A233750907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BE3E2D-6534-4D10-8088-88FB7D220F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s-E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40080" y="91440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Jesús Nader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16916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c0392b"/>
                </a:solidFill>
                <a:latin typeface="Calibri"/>
                <a:ea typeface="Calibri"/>
              </a:rPr>
              <a:t>Populismo de derecha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40080" y="2468880"/>
            <a:ext cx="4571640" cy="1800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269748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adcfc"/>
                </a:solidFill>
                <a:latin typeface="Calibri"/>
                <a:ea typeface="Calibri"/>
              </a:rPr>
              <a:t>Percepción pública del perfil político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40080" y="30632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b9690"/>
                </a:solidFill>
                <a:latin typeface="Calibri"/>
                <a:ea typeface="Calibri"/>
              </a:rPr>
              <a:t>Análisis de conversación digital · 3,740 comentarios · Marzo 2026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" y="33375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b9690"/>
                </a:solidFill>
                <a:latin typeface="Calibri"/>
                <a:ea typeface="Calibri"/>
              </a:rPr>
              <a:t>Cruce con encuesta territorial · 215 secciones · Febrero 2026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640080" y="44805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299" strike="noStrike">
                <a:solidFill>
                  <a:srgbClr val="8b1a1a"/>
                </a:solidFill>
                <a:latin typeface="Calibri"/>
                <a:ea typeface="Calibri"/>
              </a:rPr>
              <a:t>DOCUMENTO ESTRATÉGICO · USO INTERNO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a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48640" y="1371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Radiografía cuantitativa (https://www.facebook.com/ChuchoNader)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457200" y="1097280"/>
            <a:ext cx="2011320" cy="1234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457200" y="1097280"/>
            <a:ext cx="2011320" cy="4536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457200" y="12344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8b1a1a"/>
                </a:solidFill>
                <a:latin typeface="Georgia"/>
                <a:ea typeface="Georgia"/>
              </a:rPr>
              <a:t>3,740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457200" y="17373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9690"/>
                </a:solidFill>
                <a:latin typeface="Calibri"/>
                <a:ea typeface="Calibri"/>
              </a:rPr>
              <a:t>Comentarios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9690"/>
                </a:solidFill>
                <a:latin typeface="Calibri"/>
                <a:ea typeface="Calibri"/>
              </a:rPr>
              <a:t>analizados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2560320" y="1097280"/>
            <a:ext cx="2011320" cy="1234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2560320" y="1097280"/>
            <a:ext cx="2011320" cy="4536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2560320" y="12344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8b1a1a"/>
                </a:solidFill>
                <a:latin typeface="Georgia"/>
                <a:ea typeface="Georgia"/>
              </a:rPr>
              <a:t>38.6%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2560320" y="17373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9690"/>
                </a:solidFill>
                <a:latin typeface="Calibri"/>
                <a:ea typeface="Calibri"/>
              </a:rPr>
              <a:t>Sentimiento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9690"/>
                </a:solidFill>
                <a:latin typeface="Calibri"/>
                <a:ea typeface="Calibri"/>
              </a:rPr>
              <a:t>positivo a Nader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4663440" y="1097280"/>
            <a:ext cx="2011320" cy="1234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4663440" y="1097280"/>
            <a:ext cx="2011320" cy="4536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4663440" y="12344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8b1a1a"/>
                </a:solidFill>
                <a:latin typeface="Georgia"/>
                <a:ea typeface="Georgia"/>
              </a:rPr>
              <a:t>1.9%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4663440" y="17373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9690"/>
                </a:solidFill>
                <a:latin typeface="Calibri"/>
                <a:ea typeface="Calibri"/>
              </a:rPr>
              <a:t>Críticas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9690"/>
                </a:solidFill>
                <a:latin typeface="Calibri"/>
                <a:ea typeface="Calibri"/>
              </a:rPr>
              <a:t>directas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6766560" y="1097280"/>
            <a:ext cx="2011320" cy="1234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5"/>
          <p:cNvSpPr/>
          <p:nvPr/>
        </p:nvSpPr>
        <p:spPr>
          <a:xfrm>
            <a:off x="6766560" y="1097280"/>
            <a:ext cx="2011320" cy="4536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6766560" y="123444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8b1a1a"/>
                </a:solidFill>
                <a:latin typeface="Georgia"/>
                <a:ea typeface="Georgia"/>
              </a:rPr>
              <a:t>40.5%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6766560" y="17373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9690"/>
                </a:solidFill>
                <a:latin typeface="Calibri"/>
                <a:ea typeface="Calibri"/>
              </a:rPr>
              <a:t>Neutro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548640" y="26060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c2825"/>
                </a:solidFill>
                <a:latin typeface="Georgia"/>
                <a:ea typeface="Georgia"/>
              </a:rPr>
              <a:t>Clasificación temática dominante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" name="Table 0"/>
          <p:cNvGraphicFramePr/>
          <p:nvPr/>
        </p:nvGraphicFramePr>
        <p:xfrm>
          <a:off x="457200" y="2926080"/>
          <a:ext cx="8229240" cy="173952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731520"/>
                <a:gridCol w="438912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Tema</a:t>
                      </a:r>
                      <a:endParaRPr b="0" lang="es-E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Comentarios</a:t>
                      </a:r>
                      <a:endParaRPr b="0" lang="es-E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s-E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Implicación</a:t>
                      </a:r>
                      <a:endParaRPr b="0" lang="es-E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Gobernador/gubernatura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311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b1a1a"/>
                          </a:solidFill>
                          <a:latin typeface="Calibri"/>
                          <a:ea typeface="Calibri"/>
                        </a:rPr>
                        <a:t>8.3%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Aspiración desborda alcaldía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Comida / tacos / provecho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275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b1a1a"/>
                          </a:solidFill>
                          <a:latin typeface="Calibri"/>
                          <a:ea typeface="Calibri"/>
                        </a:rPr>
                        <a:t>7.4%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Eje del populismo visual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Pueblo / sencillez / raza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259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b1a1a"/>
                          </a:solidFill>
                          <a:latin typeface="Calibri"/>
                          <a:ea typeface="Calibri"/>
                        </a:rPr>
                        <a:t>6.9%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Imagen de cercanía construida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Nostalgia / regreso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177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b1a1a"/>
                          </a:solidFill>
                          <a:latin typeface="Calibri"/>
                          <a:ea typeface="Calibri"/>
                        </a:rPr>
                        <a:t>4.7%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Haces falta, regresa, te extraña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"Brillar" Tampico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163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b1a1a"/>
                          </a:solidFill>
                          <a:latin typeface="Calibri"/>
                          <a:ea typeface="Calibri"/>
                        </a:rPr>
                        <a:t>4.0%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Narrativa de campaña activa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Anti-MORENA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80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b1a1a"/>
                          </a:solidFill>
                          <a:latin typeface="Calibri"/>
                          <a:ea typeface="Calibri"/>
                        </a:rPr>
                        <a:t>2.1%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Minoritario pero vocal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5d0c8"/>
                      </a:solidFill>
                      <a:prstDash val="solid"/>
                    </a:lnL>
                    <a:lnR w="6480">
                      <a:solidFill>
                        <a:srgbClr val="d5d0c8"/>
                      </a:solidFill>
                      <a:prstDash val="solid"/>
                    </a:lnR>
                    <a:lnT w="6480">
                      <a:solidFill>
                        <a:srgbClr val="d5d0c8"/>
                      </a:solidFill>
                      <a:prstDash val="solid"/>
                    </a:lnT>
                    <a:lnB w="6480">
                      <a:solidFill>
                        <a:srgbClr val="d5d0c8"/>
                      </a:solidFill>
                      <a:prstDash val="solid"/>
                    </a:lnB>
                    <a:solidFill>
                      <a:srgbClr val="edeae5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a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" name="Image 0" descr="preencoded.png"/>
          <p:cNvPicPr/>
          <p:nvPr/>
        </p:nvPicPr>
        <p:blipFill>
          <a:blip r:embed="rId1"/>
          <a:stretch/>
        </p:blipFill>
        <p:spPr>
          <a:xfrm>
            <a:off x="457200" y="1828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8" name="Text 1"/>
          <p:cNvSpPr/>
          <p:nvPr/>
        </p:nvSpPr>
        <p:spPr>
          <a:xfrm>
            <a:off x="914400" y="1371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La administración pasada, no el diputado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57200" y="1051560"/>
            <a:ext cx="822924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457200" y="1051560"/>
            <a:ext cx="54360" cy="100548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731520" y="10972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a1a"/>
                </a:solidFill>
                <a:latin typeface="Calibri"/>
                <a:ea typeface="Calibri"/>
              </a:rPr>
              <a:t>Hallazgo central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731520" y="1371600"/>
            <a:ext cx="7680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2825"/>
                </a:solidFill>
                <a:latin typeface="Calibri"/>
                <a:ea typeface="Calibri"/>
              </a:rPr>
              <a:t>El perfil público de Nader se sustenta en la percepción de su administración pasada (2021-2024), no en su desempeño como diputado federal. Solo el 5% de los comentarios lo mencionan como diputado, frente al 8.3% que lo proyecta como gobernador.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457200" y="228600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2825"/>
                </a:solidFill>
                <a:latin typeface="Georgia"/>
                <a:ea typeface="Georgia"/>
              </a:rPr>
              <a:t>Encuesta territorial (feb 2026)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457200" y="2606040"/>
            <a:ext cx="3931560" cy="2102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640080" y="269748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8b1a1a"/>
                </a:solidFill>
                <a:latin typeface="Calibri"/>
                <a:ea typeface="Calibri"/>
              </a:rPr>
              <a:t>Brecha marca–candidata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640080" y="292608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b9690"/>
                </a:solidFill>
                <a:latin typeface="Calibri"/>
                <a:ea typeface="Calibri"/>
              </a:rPr>
              <a:t>De 99 secciones con intención de voto MORENA: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640080" y="320040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0392b"/>
                </a:solidFill>
                <a:latin typeface="Georgia"/>
                <a:ea typeface="Georgia"/>
              </a:rPr>
              <a:t>44.4%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1508760" y="32277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2825"/>
                </a:solidFill>
                <a:latin typeface="Calibri"/>
                <a:ea typeface="Calibri"/>
              </a:rPr>
              <a:t>prefieren a Nader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40080" y="361188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8860b"/>
                </a:solidFill>
                <a:latin typeface="Georgia"/>
                <a:ea typeface="Georgia"/>
              </a:rPr>
              <a:t>37.4%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508760" y="3639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2825"/>
                </a:solidFill>
                <a:latin typeface="Calibri"/>
                <a:ea typeface="Calibri"/>
              </a:rPr>
              <a:t>indecisos (NS/NC)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640080" y="402336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7a6d"/>
                </a:solidFill>
                <a:latin typeface="Georgia"/>
                <a:ea typeface="Georgia"/>
              </a:rPr>
              <a:t>18.2%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1508760" y="40507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2825"/>
                </a:solidFill>
                <a:latin typeface="Calibri"/>
                <a:ea typeface="Calibri"/>
              </a:rPr>
              <a:t>prefieren a Mónica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4754880" y="228600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2825"/>
                </a:solidFill>
                <a:latin typeface="Georgia"/>
                <a:ea typeface="Georgia"/>
              </a:rPr>
              <a:t>Conversación digital (mar 2026)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7"/>
          <p:cNvSpPr/>
          <p:nvPr/>
        </p:nvSpPr>
        <p:spPr>
          <a:xfrm>
            <a:off x="4754880" y="2606040"/>
            <a:ext cx="3931560" cy="2102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4937760" y="269748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8b1a1a"/>
                </a:solidFill>
                <a:latin typeface="Calibri"/>
                <a:ea typeface="Calibri"/>
              </a:rPr>
              <a:t>Lo que dicen los comentarios: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9"/>
          <p:cNvSpPr/>
          <p:nvPr/>
        </p:nvSpPr>
        <p:spPr>
          <a:xfrm>
            <a:off x="4937760" y="3017520"/>
            <a:ext cx="3565800" cy="411120"/>
          </a:xfrm>
          <a:prstGeom prst="rect">
            <a:avLst/>
          </a:prstGeom>
          <a:solidFill>
            <a:srgbClr val="edea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5074920" y="303588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"No es morena, es la persona... Chucho me late para gobernador"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1"/>
          <p:cNvSpPr/>
          <p:nvPr/>
        </p:nvSpPr>
        <p:spPr>
          <a:xfrm>
            <a:off x="4937760" y="3520440"/>
            <a:ext cx="3565800" cy="411120"/>
          </a:xfrm>
          <a:prstGeom prst="rect">
            <a:avLst/>
          </a:prstGeom>
          <a:solidFill>
            <a:srgbClr val="edea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5074920" y="353880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"Haces falta, Tampico está hecho un asco"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23"/>
          <p:cNvSpPr/>
          <p:nvPr/>
        </p:nvSpPr>
        <p:spPr>
          <a:xfrm>
            <a:off x="4937760" y="4023360"/>
            <a:ext cx="3565800" cy="411120"/>
          </a:xfrm>
          <a:prstGeom prst="rect">
            <a:avLst/>
          </a:prstGeom>
          <a:solidFill>
            <a:srgbClr val="edea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4"/>
          <p:cNvSpPr/>
          <p:nvPr/>
        </p:nvSpPr>
        <p:spPr>
          <a:xfrm>
            <a:off x="5074920" y="404172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"A pesar de ser de cuna de seda es una persona muy sencilla"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a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" name="Image 0" descr="preencoded.png"/>
          <p:cNvPicPr/>
          <p:nvPr/>
        </p:nvPicPr>
        <p:blipFill>
          <a:blip r:embed="rId1"/>
          <a:stretch/>
        </p:blipFill>
        <p:spPr>
          <a:xfrm>
            <a:off x="457200" y="1828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64" name="Text 1"/>
          <p:cNvSpPr/>
          <p:nvPr/>
        </p:nvSpPr>
        <p:spPr>
          <a:xfrm>
            <a:off x="914400" y="1371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El diputado no suma, el populista sí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57200" y="1051560"/>
            <a:ext cx="822924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457200" y="1051560"/>
            <a:ext cx="54360" cy="8226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731520" y="109728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8860b"/>
                </a:solidFill>
                <a:latin typeface="Calibri"/>
                <a:ea typeface="Calibri"/>
              </a:rPr>
              <a:t>La tensión clave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731520" y="1325880"/>
            <a:ext cx="7680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2825"/>
                </a:solidFill>
                <a:latin typeface="Calibri"/>
                <a:ea typeface="Calibri"/>
              </a:rPr>
              <a:t>MORENA se prefiere frente a los partidos de derecha, pero la figura de Nader es muy bien apreciada incluso por aquellos con preferencias partidistas cercanas a MORENA. El 20.5% de las secciones con voto morenista prefieren a Nader como candidato.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457200" y="2148840"/>
            <a:ext cx="393156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457200" y="2148840"/>
            <a:ext cx="3931560" cy="45360"/>
          </a:xfrm>
          <a:prstGeom prst="rect">
            <a:avLst/>
          </a:prstGeom>
          <a:solidFill>
            <a:srgbClr val="9b96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640080" y="22860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9b9690"/>
                </a:solidFill>
                <a:latin typeface="Georgia"/>
                <a:ea typeface="Georgia"/>
              </a:rPr>
              <a:t>Nader diputado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640080" y="251460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9b9690"/>
                </a:solidFill>
                <a:latin typeface="Georgia"/>
                <a:ea typeface="Georgia"/>
              </a:rPr>
              <a:t>5% de menciones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640080" y="28803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Voto contra reforma electoral genera críticas fuertes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40080" y="32644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Posiciones legislativas regresivas no son conocidas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40080" y="36486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Su trabajo en Cámara no tiene visibilidad en Tampico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640080" y="40323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Flanco explotable: exposición de posturas antipopulares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4"/>
          <p:cNvSpPr/>
          <p:nvPr/>
        </p:nvSpPr>
        <p:spPr>
          <a:xfrm>
            <a:off x="4754880" y="2148840"/>
            <a:ext cx="393156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5"/>
          <p:cNvSpPr/>
          <p:nvPr/>
        </p:nvSpPr>
        <p:spPr>
          <a:xfrm>
            <a:off x="4754880" y="2148840"/>
            <a:ext cx="3931560" cy="453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6"/>
          <p:cNvSpPr/>
          <p:nvPr/>
        </p:nvSpPr>
        <p:spPr>
          <a:xfrm>
            <a:off x="4937760" y="22860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0392b"/>
                </a:solidFill>
                <a:latin typeface="Georgia"/>
                <a:ea typeface="Georgia"/>
              </a:rPr>
              <a:t>Nader populista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4937760" y="251460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0392b"/>
                </a:solidFill>
                <a:latin typeface="Georgia"/>
                <a:ea typeface="Georgia"/>
              </a:rPr>
              <a:t>22.6% de menciones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8"/>
          <p:cNvSpPr/>
          <p:nvPr/>
        </p:nvSpPr>
        <p:spPr>
          <a:xfrm>
            <a:off x="4937760" y="28803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Tacos, fondas, cumpleaños en el estadio, iglesia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9"/>
          <p:cNvSpPr/>
          <p:nvPr/>
        </p:nvSpPr>
        <p:spPr>
          <a:xfrm>
            <a:off x="4937760" y="32644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"A pesar de cuna de seda, es sencillo, me consta"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4937760" y="36486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61 respuestas personales en una sola publicación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1"/>
          <p:cNvSpPr/>
          <p:nvPr/>
        </p:nvSpPr>
        <p:spPr>
          <a:xfrm>
            <a:off x="4937760" y="40323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Nader responde más comentarios que cualquier político local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a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6" name="Image 0" descr="preencoded.png"/>
          <p:cNvPicPr/>
          <p:nvPr/>
        </p:nvPicPr>
        <p:blipFill>
          <a:blip r:embed="rId1"/>
          <a:stretch/>
        </p:blipFill>
        <p:spPr>
          <a:xfrm>
            <a:off x="457200" y="1828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87" name="Text 1"/>
          <p:cNvSpPr/>
          <p:nvPr/>
        </p:nvSpPr>
        <p:spPr>
          <a:xfrm>
            <a:off x="914400" y="137160"/>
            <a:ext cx="777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La máquina populista: anatomía del engagement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457200" y="1051560"/>
            <a:ext cx="8229240" cy="639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457200" y="1051560"/>
            <a:ext cx="54360" cy="639720"/>
          </a:xfrm>
          <a:prstGeom prst="rect">
            <a:avLst/>
          </a:prstGeom>
          <a:solidFill>
            <a:srgbClr val="d85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731520" y="109728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2825"/>
                </a:solidFill>
                <a:latin typeface="Calibri"/>
                <a:ea typeface="Calibri"/>
              </a:rPr>
              <a:t>La mecánica es simple: Nader publica una foto comiendo tacos de barrio. Recibe miles de interacciones. Responde personalmente a decenas de comentarios con "saludos" y "te los recomiendo". El ciclo alimenta la percepción de cercanía sin necesidad de gestión pública real.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457200" y="1920240"/>
            <a:ext cx="2697120" cy="1828440"/>
          </a:xfrm>
          <a:prstGeom prst="rect">
            <a:avLst/>
          </a:prstGeom>
          <a:solidFill>
            <a:srgbClr val="d85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457200" y="201168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Publica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594360" y="2423160"/>
            <a:ext cx="2422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Foto en taquería, fonda,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con playera de la Jaiba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594360" y="32461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100% del contenido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es lifestyle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3355920" y="1920240"/>
            <a:ext cx="2697120" cy="182844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3355920" y="201168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Genera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3493080" y="2423160"/>
            <a:ext cx="2422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7.4% hablan de comida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6.9% hablan de cercanía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8.3% lo llaman gobernador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3493080" y="32461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Conversión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automática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6254640" y="1920240"/>
            <a:ext cx="2697120" cy="1828440"/>
          </a:xfrm>
          <a:prstGeom prst="rect">
            <a:avLst/>
          </a:prstGeom>
          <a:solidFill>
            <a:srgbClr val="1a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6254640" y="201168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Responde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6391800" y="2423160"/>
            <a:ext cx="2422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61 respuestas directas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"saludos", "arriba la jaiba"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"te los recomiendo"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6391800" y="32461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Retroalimenta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el ciclo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7"/>
          <p:cNvSpPr/>
          <p:nvPr/>
        </p:nvSpPr>
        <p:spPr>
          <a:xfrm>
            <a:off x="457200" y="3977640"/>
            <a:ext cx="8229240" cy="868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640080" y="402336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8b1a1a"/>
                </a:solidFill>
                <a:latin typeface="Georgia"/>
                <a:ea typeface="Georgia"/>
              </a:rPr>
              <a:t>129</a:t>
            </a:r>
            <a:endParaRPr b="0" lang="es-E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9"/>
          <p:cNvSpPr/>
          <p:nvPr/>
        </p:nvSpPr>
        <p:spPr>
          <a:xfrm>
            <a:off x="2011680" y="4023360"/>
            <a:ext cx="6400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1400" spc="-1" strike="noStrike">
                <a:solidFill>
                  <a:srgbClr val="2c2825"/>
                </a:solidFill>
                <a:latin typeface="Calibri"/>
                <a:ea typeface="Calibri"/>
              </a:rPr>
              <a:t>comentarios lo llaman "próximo gobernador"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b9690"/>
                </a:solidFill>
                <a:latin typeface="Calibri"/>
                <a:ea typeface="Calibri"/>
              </a:rPr>
              <a:t>La aspiración a gobernador es 5 veces mayor que la de alcalde (311 vs. 65). Si Nader se posiciona para la gubernatura, deja de ser "el que regresa a tu colonia" y se convierte en "el que se va a Ciudad Victoria".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" name="Image 0" descr="preencoded.png"/>
          <p:cNvPicPr/>
          <p:nvPr/>
        </p:nvPicPr>
        <p:blipFill>
          <a:blip r:embed="rId1"/>
          <a:stretch/>
        </p:blipFill>
        <p:spPr>
          <a:xfrm>
            <a:off x="457200" y="1828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08" name="Text 1"/>
          <p:cNvSpPr/>
          <p:nvPr/>
        </p:nvSpPr>
        <p:spPr>
          <a:xfrm>
            <a:off x="914400" y="137160"/>
            <a:ext cx="777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"Brillar" como campo de batalla  </a:t>
            </a:r>
            <a:r>
              <a:rPr b="1" lang="en-US" sz="1000" spc="199" strike="noStrike">
                <a:solidFill>
                  <a:srgbClr val="ffd700"/>
                </a:solidFill>
                <a:latin typeface="Calibri"/>
                <a:ea typeface="Calibri"/>
              </a:rPr>
              <a:t>  HALLAZGO NUEVO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457200" y="1051560"/>
            <a:ext cx="8229240" cy="594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640080" y="109728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8b1a1a"/>
                </a:solidFill>
                <a:latin typeface="Georgia"/>
                <a:ea typeface="Georgia"/>
              </a:rPr>
              <a:t>163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1737360" y="1097280"/>
            <a:ext cx="6674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2825"/>
                </a:solidFill>
                <a:latin typeface="Calibri"/>
                <a:ea typeface="Calibri"/>
              </a:rPr>
              <a:t>comentarios usan la palabra "brillar" — es la narrativa más estructurada de Nader y la más peligrosa porque compara implícitamente administraciones.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457200" y="1874520"/>
            <a:ext cx="2697120" cy="233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457200" y="1874520"/>
            <a:ext cx="2697120" cy="453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594360" y="201168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0392b"/>
                </a:solidFill>
                <a:latin typeface="Georgia"/>
                <a:ea typeface="Georgia"/>
              </a:rPr>
              <a:t>"Ya no brilla"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594360" y="2286000"/>
            <a:ext cx="2422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0392b"/>
                </a:solidFill>
                <a:latin typeface="Georgia"/>
                <a:ea typeface="Georgia"/>
              </a:rPr>
              <a:t>12 menciones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594360" y="256032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2825"/>
                </a:solidFill>
                <a:latin typeface="Calibri"/>
                <a:ea typeface="Calibri"/>
              </a:rPr>
              <a:t>Crítica directa a la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2825"/>
                </a:solidFill>
                <a:latin typeface="Calibri"/>
                <a:ea typeface="Calibri"/>
              </a:rPr>
              <a:t>administración actual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594360" y="3108960"/>
            <a:ext cx="2422800" cy="594000"/>
          </a:xfrm>
          <a:prstGeom prst="rect">
            <a:avLst/>
          </a:prstGeom>
          <a:solidFill>
            <a:srgbClr val="edea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685800" y="312732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b9690"/>
                </a:solidFill>
                <a:latin typeface="Calibri"/>
                <a:ea typeface="Calibri"/>
              </a:rPr>
              <a:t>"Tampico ya no brilla,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b9690"/>
                </a:solidFill>
                <a:latin typeface="Calibri"/>
                <a:ea typeface="Calibri"/>
              </a:rPr>
              <a:t>qué nos pasó"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2"/>
          <p:cNvSpPr/>
          <p:nvPr/>
        </p:nvSpPr>
        <p:spPr>
          <a:xfrm>
            <a:off x="3355920" y="1874520"/>
            <a:ext cx="2697120" cy="233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3355920" y="1874520"/>
            <a:ext cx="2697120" cy="4536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3493080" y="201168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8860b"/>
                </a:solidFill>
                <a:latin typeface="Georgia"/>
                <a:ea typeface="Georgia"/>
              </a:rPr>
              <a:t>"Vuelva a brillar"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3493080" y="2286000"/>
            <a:ext cx="2422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b8860b"/>
                </a:solidFill>
                <a:latin typeface="Georgia"/>
                <a:ea typeface="Georgia"/>
              </a:rPr>
              <a:t>35 menciones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3493080" y="256032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2825"/>
                </a:solidFill>
                <a:latin typeface="Calibri"/>
                <a:ea typeface="Calibri"/>
              </a:rPr>
              <a:t>Nostalgia proyectada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2825"/>
                </a:solidFill>
                <a:latin typeface="Calibri"/>
                <a:ea typeface="Calibri"/>
              </a:rPr>
              <a:t>hacia el futuro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7"/>
          <p:cNvSpPr/>
          <p:nvPr/>
        </p:nvSpPr>
        <p:spPr>
          <a:xfrm>
            <a:off x="3493080" y="3108960"/>
            <a:ext cx="2422800" cy="594000"/>
          </a:xfrm>
          <a:prstGeom prst="rect">
            <a:avLst/>
          </a:prstGeom>
          <a:solidFill>
            <a:srgbClr val="edea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8"/>
          <p:cNvSpPr/>
          <p:nvPr/>
        </p:nvSpPr>
        <p:spPr>
          <a:xfrm>
            <a:off x="3584520" y="312732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b9690"/>
                </a:solidFill>
                <a:latin typeface="Calibri"/>
                <a:ea typeface="Calibri"/>
              </a:rPr>
              <a:t>"Que Tampico vuelva 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b9690"/>
                </a:solidFill>
                <a:latin typeface="Calibri"/>
                <a:ea typeface="Calibri"/>
              </a:rPr>
              <a:t>brillar, nesesitamos a Chucho"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9"/>
          <p:cNvSpPr/>
          <p:nvPr/>
        </p:nvSpPr>
        <p:spPr>
          <a:xfrm>
            <a:off x="6254640" y="1874520"/>
            <a:ext cx="2697120" cy="233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20"/>
          <p:cNvSpPr/>
          <p:nvPr/>
        </p:nvSpPr>
        <p:spPr>
          <a:xfrm>
            <a:off x="6254640" y="1874520"/>
            <a:ext cx="2697120" cy="45360"/>
          </a:xfrm>
          <a:prstGeom prst="rect">
            <a:avLst/>
          </a:prstGeom>
          <a:solidFill>
            <a:srgbClr val="1a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6391800" y="201168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f36"/>
                </a:solidFill>
                <a:latin typeface="Georgia"/>
                <a:ea typeface="Georgia"/>
              </a:rPr>
              <a:t>"Hizo brillar"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6391800" y="2286000"/>
            <a:ext cx="2422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f36"/>
                </a:solidFill>
                <a:latin typeface="Georgia"/>
                <a:ea typeface="Georgia"/>
              </a:rPr>
              <a:t>10 menciones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3"/>
          <p:cNvSpPr/>
          <p:nvPr/>
        </p:nvSpPr>
        <p:spPr>
          <a:xfrm>
            <a:off x="6391800" y="256032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2825"/>
                </a:solidFill>
                <a:latin typeface="Calibri"/>
                <a:ea typeface="Calibri"/>
              </a:rPr>
              <a:t>Recuerdo idealizado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2825"/>
                </a:solidFill>
                <a:latin typeface="Calibri"/>
                <a:ea typeface="Calibri"/>
              </a:rPr>
              <a:t>del pasado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24"/>
          <p:cNvSpPr/>
          <p:nvPr/>
        </p:nvSpPr>
        <p:spPr>
          <a:xfrm>
            <a:off x="6391800" y="3108960"/>
            <a:ext cx="2422800" cy="594000"/>
          </a:xfrm>
          <a:prstGeom prst="rect">
            <a:avLst/>
          </a:prstGeom>
          <a:solidFill>
            <a:srgbClr val="edea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5"/>
          <p:cNvSpPr/>
          <p:nvPr/>
        </p:nvSpPr>
        <p:spPr>
          <a:xfrm>
            <a:off x="6483240" y="312732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b9690"/>
                </a:solidFill>
                <a:latin typeface="Calibri"/>
                <a:ea typeface="Calibri"/>
              </a:rPr>
              <a:t>"La vdd que hizo que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b9690"/>
                </a:solidFill>
                <a:latin typeface="Calibri"/>
                <a:ea typeface="Calibri"/>
              </a:rPr>
              <a:t>Brillara Tampico"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26"/>
          <p:cNvSpPr/>
          <p:nvPr/>
        </p:nvSpPr>
        <p:spPr>
          <a:xfrm>
            <a:off x="457200" y="4389120"/>
            <a:ext cx="8229240" cy="502560"/>
          </a:xfrm>
          <a:prstGeom prst="rect">
            <a:avLst/>
          </a:prstGeom>
          <a:solidFill>
            <a:srgbClr val="1a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7"/>
          <p:cNvSpPr/>
          <p:nvPr/>
        </p:nvSpPr>
        <p:spPr>
          <a:xfrm>
            <a:off x="640080" y="443484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28 comentarios comparan explícitamente administraciones — evidencia de que la narrativa ya opera como contraste electoral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a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6" name="Image 0" descr="preencoded.png"/>
          <p:cNvPicPr/>
          <p:nvPr/>
        </p:nvPicPr>
        <p:blipFill>
          <a:blip r:embed="rId1"/>
          <a:stretch/>
        </p:blipFill>
        <p:spPr>
          <a:xfrm>
            <a:off x="457200" y="1828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37" name="Text 1"/>
          <p:cNvSpPr/>
          <p:nvPr/>
        </p:nvSpPr>
        <p:spPr>
          <a:xfrm>
            <a:off x="914400" y="1371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Vulnerabilidades de Nader: flancos atacables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457200" y="1051560"/>
            <a:ext cx="2697120" cy="3748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457200" y="1051560"/>
            <a:ext cx="2697120" cy="453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594360" y="118872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0392b"/>
                </a:solidFill>
                <a:latin typeface="Georgia"/>
                <a:ea typeface="Georgia"/>
              </a:rPr>
              <a:t>Gorra y falsedad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594360" y="146304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0392b"/>
                </a:solidFill>
                <a:latin typeface="Georgia"/>
                <a:ea typeface="Georgia"/>
              </a:rPr>
              <a:t>32 críticas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594360" y="19202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"Regresa lo que te robaste"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594360" y="23590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"Pura falsedad y fingido"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594360" y="27979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"Comiendo gratis" / "pura gorra"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594360" y="32371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"No hizo nada, ahora se da baños de pueblo"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3355920" y="1051560"/>
            <a:ext cx="2697120" cy="3748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1"/>
          <p:cNvSpPr/>
          <p:nvPr/>
        </p:nvSpPr>
        <p:spPr>
          <a:xfrm>
            <a:off x="3355920" y="1051560"/>
            <a:ext cx="2697120" cy="4536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3493080" y="118872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b8860b"/>
                </a:solidFill>
                <a:latin typeface="Georgia"/>
                <a:ea typeface="Georgia"/>
              </a:rPr>
              <a:t>COMAPA como puente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3493080" y="146304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b8860b"/>
                </a:solidFill>
                <a:latin typeface="Georgia"/>
                <a:ea typeface="Georgia"/>
              </a:rPr>
              <a:t>Doble fuente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3493080" y="19202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Encuesta: peor servicio (5.8/10)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3493080" y="23590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Fugas se correlacionan con preferencia Nader (+14.5pp)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3493080" y="27979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Comentarios: "pésimas obras de Comapa"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3493080" y="32371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COMAPA es herencia de Nader, no de la actual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8"/>
          <p:cNvSpPr/>
          <p:nvPr/>
        </p:nvSpPr>
        <p:spPr>
          <a:xfrm>
            <a:off x="6254640" y="1051560"/>
            <a:ext cx="2697120" cy="3748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9"/>
          <p:cNvSpPr/>
          <p:nvPr/>
        </p:nvSpPr>
        <p:spPr>
          <a:xfrm>
            <a:off x="6254640" y="1051560"/>
            <a:ext cx="2697120" cy="45360"/>
          </a:xfrm>
          <a:prstGeom prst="rect">
            <a:avLst/>
          </a:prstGeom>
          <a:solidFill>
            <a:srgbClr val="1a7a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20"/>
          <p:cNvSpPr/>
          <p:nvPr/>
        </p:nvSpPr>
        <p:spPr>
          <a:xfrm>
            <a:off x="6391800" y="118872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7a6d"/>
                </a:solidFill>
                <a:latin typeface="Georgia"/>
                <a:ea typeface="Georgia"/>
              </a:rPr>
              <a:t>Gobernador = se va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1"/>
          <p:cNvSpPr/>
          <p:nvPr/>
        </p:nvSpPr>
        <p:spPr>
          <a:xfrm>
            <a:off x="6391800" y="146304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7a6d"/>
                </a:solidFill>
                <a:latin typeface="Georgia"/>
                <a:ea typeface="Georgia"/>
              </a:rPr>
              <a:t>311 menciones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22"/>
          <p:cNvSpPr/>
          <p:nvPr/>
        </p:nvSpPr>
        <p:spPr>
          <a:xfrm>
            <a:off x="6391800" y="19202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129 dicen "próximo gobernador"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23"/>
          <p:cNvSpPr/>
          <p:nvPr/>
        </p:nvSpPr>
        <p:spPr>
          <a:xfrm>
            <a:off x="6391800" y="23590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Solo 65 lo quieren de alcalde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4"/>
          <p:cNvSpPr/>
          <p:nvPr/>
        </p:nvSpPr>
        <p:spPr>
          <a:xfrm>
            <a:off x="6391800" y="27979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Si aspira a Cd. Victoria, abandona Tampico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5"/>
          <p:cNvSpPr/>
          <p:nvPr/>
        </p:nvSpPr>
        <p:spPr>
          <a:xfrm>
            <a:off x="6391800" y="32371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282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2c2825"/>
                </a:solidFill>
                <a:latin typeface="Calibri"/>
                <a:ea typeface="Calibri"/>
              </a:rPr>
              <a:t>La nostalgia pierde sentido si no regresa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54864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Georgia"/>
                <a:ea typeface="Georgia"/>
              </a:rPr>
              <a:t>Las tres contranarrativas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548640" y="777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b9690"/>
                </a:solidFill>
                <a:latin typeface="Calibri"/>
                <a:ea typeface="Calibri"/>
              </a:rPr>
              <a:t>Ejes de intervención comunicativa derivados del análisis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3"/>
          <p:cNvSpPr/>
          <p:nvPr/>
        </p:nvSpPr>
        <p:spPr>
          <a:xfrm>
            <a:off x="457200" y="1234440"/>
            <a:ext cx="8229240" cy="1096920"/>
          </a:xfrm>
          <a:prstGeom prst="rect">
            <a:avLst/>
          </a:prstGeom>
          <a:solidFill>
            <a:srgbClr val="252b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4"/>
          <p:cNvSpPr/>
          <p:nvPr/>
        </p:nvSpPr>
        <p:spPr>
          <a:xfrm>
            <a:off x="457200" y="1234440"/>
            <a:ext cx="54360" cy="10969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685800" y="132588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c0392b"/>
                </a:solidFill>
                <a:latin typeface="Georgia"/>
                <a:ea typeface="Georgia"/>
              </a:rPr>
              <a:t>01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1234440" y="132588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Contrastes con datos reales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1234440" y="1600200"/>
            <a:ext cx="7131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adc0"/>
                </a:solidFill>
                <a:latin typeface="Calibri"/>
                <a:ea typeface="Calibri"/>
              </a:rPr>
              <a:t>Combatir el recuerdo idealizado de la administración Nader con resultados concretos y comparables. La narrativa "brillar" se neutraliza mostrando qué se ha construido, no cómo se veía.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8"/>
          <p:cNvSpPr/>
          <p:nvPr/>
        </p:nvSpPr>
        <p:spPr>
          <a:xfrm>
            <a:off x="1234440" y="201168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Acción: serie de contenidos con datos acumulados por servicio — antes/durante/después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9"/>
          <p:cNvSpPr/>
          <p:nvPr/>
        </p:nvSpPr>
        <p:spPr>
          <a:xfrm>
            <a:off x="457200" y="2514600"/>
            <a:ext cx="8229240" cy="1096920"/>
          </a:xfrm>
          <a:prstGeom prst="rect">
            <a:avLst/>
          </a:prstGeom>
          <a:solidFill>
            <a:srgbClr val="252b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10"/>
          <p:cNvSpPr/>
          <p:nvPr/>
        </p:nvSpPr>
        <p:spPr>
          <a:xfrm>
            <a:off x="457200" y="2514600"/>
            <a:ext cx="54360" cy="109692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1"/>
          <p:cNvSpPr/>
          <p:nvPr/>
        </p:nvSpPr>
        <p:spPr>
          <a:xfrm>
            <a:off x="685800" y="260604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b8860b"/>
                </a:solidFill>
                <a:latin typeface="Georgia"/>
                <a:ea typeface="Georgia"/>
              </a:rPr>
              <a:t>02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2"/>
          <p:cNvSpPr/>
          <p:nvPr/>
        </p:nvSpPr>
        <p:spPr>
          <a:xfrm>
            <a:off x="1234440" y="260604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Exposición del diputado regresivo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3"/>
          <p:cNvSpPr/>
          <p:nvPr/>
        </p:nvSpPr>
        <p:spPr>
          <a:xfrm>
            <a:off x="1234440" y="2880360"/>
            <a:ext cx="7131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adc0"/>
                </a:solidFill>
                <a:latin typeface="Calibri"/>
                <a:ea typeface="Calibri"/>
              </a:rPr>
              <a:t>El trabajo legislativo de Nader (reforma electoral, posiciones antipopulares) no es conocido. Visibilizarlo para recuperar al 44.4% de votantes MORENA que hoy prefieren a Nader sin saber qué vota en Cámara.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14"/>
          <p:cNvSpPr/>
          <p:nvPr/>
        </p:nvSpPr>
        <p:spPr>
          <a:xfrm>
            <a:off x="1234440" y="329184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b8860b"/>
                </a:solidFill>
                <a:latin typeface="Calibri"/>
                <a:ea typeface="Calibri"/>
              </a:rPr>
              <a:t>Acción: piezas breves de "¿Sabías qué votó tu diputado?" vinculadas a temas cotidianos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15"/>
          <p:cNvSpPr/>
          <p:nvPr/>
        </p:nvSpPr>
        <p:spPr>
          <a:xfrm>
            <a:off x="457200" y="3794760"/>
            <a:ext cx="8229240" cy="1096920"/>
          </a:xfrm>
          <a:prstGeom prst="rect">
            <a:avLst/>
          </a:prstGeom>
          <a:solidFill>
            <a:srgbClr val="252b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16"/>
          <p:cNvSpPr/>
          <p:nvPr/>
        </p:nvSpPr>
        <p:spPr>
          <a:xfrm>
            <a:off x="457200" y="3794760"/>
            <a:ext cx="54360" cy="1096920"/>
          </a:xfrm>
          <a:prstGeom prst="rect">
            <a:avLst/>
          </a:prstGeom>
          <a:solidFill>
            <a:srgbClr val="1a7a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7"/>
          <p:cNvSpPr/>
          <p:nvPr/>
        </p:nvSpPr>
        <p:spPr>
          <a:xfrm>
            <a:off x="685800" y="38862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a7a6d"/>
                </a:solidFill>
                <a:latin typeface="Georgia"/>
                <a:ea typeface="Georgia"/>
              </a:rPr>
              <a:t>03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8"/>
          <p:cNvSpPr/>
          <p:nvPr/>
        </p:nvSpPr>
        <p:spPr>
          <a:xfrm>
            <a:off x="1234440" y="388620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Cercanía real vs. populismo vacío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9"/>
          <p:cNvSpPr/>
          <p:nvPr/>
        </p:nvSpPr>
        <p:spPr>
          <a:xfrm>
            <a:off x="1234440" y="4160520"/>
            <a:ext cx="7131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0adc0"/>
                </a:solidFill>
                <a:latin typeface="Calibri"/>
                <a:ea typeface="Calibri"/>
              </a:rPr>
              <a:t>No competir comiendo tacos. Construir una imagen de cercanía basada en resultados tangibles en colonias: la líder que resuelve, no el político que posa. Diferenciarse por acción, no por estética.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0"/>
          <p:cNvSpPr/>
          <p:nvPr/>
        </p:nvSpPr>
        <p:spPr>
          <a:xfrm>
            <a:off x="1234440" y="457200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1a7a6d"/>
                </a:solidFill>
                <a:latin typeface="Calibri"/>
                <a:ea typeface="Calibri"/>
              </a:rPr>
              <a:t>Acción: caminatas resolutivas documentadas, protagonistas de colonia, voz de beneficiarios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a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4" name="Image 0" descr="preencoded.png"/>
          <p:cNvPicPr/>
          <p:nvPr/>
        </p:nvPicPr>
        <p:blipFill>
          <a:blip r:embed="rId1"/>
          <a:stretch/>
        </p:blipFill>
        <p:spPr>
          <a:xfrm>
            <a:off x="457200" y="1828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85" name="Text 1"/>
          <p:cNvSpPr/>
          <p:nvPr/>
        </p:nvSpPr>
        <p:spPr>
          <a:xfrm>
            <a:off x="914400" y="1371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Cruce con encuesta: mapa de oportunidad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"/>
          <p:cNvSpPr/>
          <p:nvPr/>
        </p:nvSpPr>
        <p:spPr>
          <a:xfrm>
            <a:off x="457200" y="1051560"/>
            <a:ext cx="822924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457200" y="1051560"/>
            <a:ext cx="54360" cy="1142640"/>
          </a:xfrm>
          <a:prstGeom prst="rect">
            <a:avLst/>
          </a:prstGeom>
          <a:solidFill>
            <a:srgbClr val="1a7a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685800" y="11430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a7a6d"/>
                </a:solidFill>
                <a:latin typeface="Georgia"/>
                <a:ea typeface="Georgia"/>
              </a:rPr>
              <a:t>151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685800" y="169164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b9690"/>
                </a:solidFill>
                <a:latin typeface="Calibri"/>
                <a:ea typeface="Calibri"/>
              </a:rPr>
              <a:t>secciones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2286000" y="1143000"/>
            <a:ext cx="6126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7a6d"/>
                </a:solidFill>
                <a:latin typeface="Georgia"/>
                <a:ea typeface="Georgia"/>
              </a:rPr>
              <a:t>Basura = palanca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2286000" y="1463040"/>
            <a:ext cx="6126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2825"/>
                </a:solidFill>
                <a:latin typeface="Calibri"/>
                <a:ea typeface="Calibri"/>
              </a:rPr>
              <a:t>La recolección de basura es el mejor servicio evaluado (8.43/10) y el único donde quienes lo valoran también prefieren a Mónica. Comunicar este logro agresivamente.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8"/>
          <p:cNvSpPr/>
          <p:nvPr/>
        </p:nvSpPr>
        <p:spPr>
          <a:xfrm>
            <a:off x="457200" y="2377440"/>
            <a:ext cx="822924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457200" y="2377440"/>
            <a:ext cx="54360" cy="11426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685800" y="246888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c0392b"/>
                </a:solidFill>
                <a:latin typeface="Georgia"/>
                <a:ea typeface="Georgia"/>
              </a:rPr>
              <a:t>5.88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685800" y="30175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b9690"/>
                </a:solidFill>
                <a:latin typeface="Calibri"/>
                <a:ea typeface="Calibri"/>
              </a:rPr>
              <a:t>promedio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2286000" y="2468880"/>
            <a:ext cx="6126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0392b"/>
                </a:solidFill>
                <a:latin typeface="Georgia"/>
                <a:ea typeface="Georgia"/>
              </a:rPr>
              <a:t>COMAPA = riesgo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2286000" y="2788920"/>
            <a:ext cx="6126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2825"/>
                </a:solidFill>
                <a:latin typeface="Calibri"/>
                <a:ea typeface="Calibri"/>
              </a:rPr>
              <a:t>Peor servicio. Las secciones con fugas de agua muestran +14.5pp de preferencia por Nader. Es la herencia tóxica de la administración anterior que hoy perjudica a la actual.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4"/>
          <p:cNvSpPr/>
          <p:nvPr/>
        </p:nvSpPr>
        <p:spPr>
          <a:xfrm>
            <a:off x="457200" y="3703320"/>
            <a:ext cx="822924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5"/>
          <p:cNvSpPr/>
          <p:nvPr/>
        </p:nvSpPr>
        <p:spPr>
          <a:xfrm>
            <a:off x="457200" y="3703320"/>
            <a:ext cx="54360" cy="1142640"/>
          </a:xfrm>
          <a:prstGeom prst="rect">
            <a:avLst/>
          </a:prstGeom>
          <a:solidFill>
            <a:srgbClr val="1a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685800" y="379476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a1f36"/>
                </a:solidFill>
                <a:latin typeface="Georgia"/>
                <a:ea typeface="Georgia"/>
              </a:rPr>
              <a:t>0.303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7"/>
          <p:cNvSpPr/>
          <p:nvPr/>
        </p:nvSpPr>
        <p:spPr>
          <a:xfrm>
            <a:off x="685800" y="43434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b9690"/>
                </a:solidFill>
                <a:latin typeface="Calibri"/>
                <a:ea typeface="Calibri"/>
              </a:rPr>
              <a:t>correlación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8"/>
          <p:cNvSpPr/>
          <p:nvPr/>
        </p:nvSpPr>
        <p:spPr>
          <a:xfrm>
            <a:off x="2286000" y="3794760"/>
            <a:ext cx="6126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f36"/>
                </a:solidFill>
                <a:latin typeface="Georgia"/>
                <a:ea typeface="Georgia"/>
              </a:rPr>
              <a:t>Sheinbaum = transferencia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9"/>
          <p:cNvSpPr/>
          <p:nvPr/>
        </p:nvSpPr>
        <p:spPr>
          <a:xfrm>
            <a:off x="2286000" y="4114800"/>
            <a:ext cx="6126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2825"/>
                </a:solidFill>
                <a:latin typeface="Calibri"/>
                <a:ea typeface="Calibri"/>
              </a:rPr>
              <a:t>La correlación más alta de imagen encontrada. La aprobación de Sheinbaum (7.83) supera a la de Mónica (6.72) por más de un punto. Vincular = transferir.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0"/>
          <p:cNvSpPr/>
          <p:nvPr/>
        </p:nvSpPr>
        <p:spPr>
          <a:xfrm>
            <a:off x="457200" y="4434840"/>
            <a:ext cx="8229240" cy="456840"/>
          </a:xfrm>
          <a:prstGeom prst="rect">
            <a:avLst/>
          </a:prstGeom>
          <a:solidFill>
            <a:srgbClr val="1a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1"/>
          <p:cNvSpPr/>
          <p:nvPr/>
        </p:nvSpPr>
        <p:spPr>
          <a:xfrm>
            <a:off x="640080" y="44348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Fugas de agua → Nader 44% vs. Mónica 12%  |  Sin fugas → Nader 29.5% vs. Mónica 15.9%  |  El agua es el factor decisivo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548640" y="45720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Conclusión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548640" y="1097280"/>
            <a:ext cx="2742840" cy="1800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548640" y="137160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adcfc"/>
                </a:solidFill>
                <a:latin typeface="Georgia"/>
                <a:ea typeface="Georgia"/>
              </a:rPr>
              <a:t>Nader no gana por gestión ni por partido.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adcfc"/>
                </a:solidFill>
                <a:latin typeface="Georgia"/>
                <a:ea typeface="Georgia"/>
              </a:rPr>
              <a:t>Gana por percepción de cercanía.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548640" y="21945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b9690"/>
                </a:solidFill>
                <a:latin typeface="Calibri"/>
                <a:ea typeface="Calibri"/>
              </a:rPr>
              <a:t>Esa percepción es atacable en tres frentes: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548640" y="26974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0392b"/>
                </a:solidFill>
                <a:latin typeface="Georgia"/>
                <a:ea typeface="Georgia"/>
              </a:rPr>
              <a:t>1.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914400" y="2697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Datos contra nostalgia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914400" y="297180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9690"/>
                </a:solidFill>
                <a:latin typeface="Calibri"/>
                <a:ea typeface="Calibri"/>
              </a:rPr>
              <a:t>La administración actual tiene resultados comparables; hay que mostrarlos.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548640" y="33375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0392b"/>
                </a:solidFill>
                <a:latin typeface="Georgia"/>
                <a:ea typeface="Georgia"/>
              </a:rPr>
              <a:t>2.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914400" y="33375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Legislador contra populista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914400" y="361188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9690"/>
                </a:solidFill>
                <a:latin typeface="Calibri"/>
                <a:ea typeface="Calibri"/>
              </a:rPr>
              <a:t>Su voto en Cámara contradice su imagen de calle.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548640" y="39776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0392b"/>
                </a:solidFill>
                <a:latin typeface="Georgia"/>
                <a:ea typeface="Georgia"/>
              </a:rPr>
              <a:t>3.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914400" y="39776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Resultados contra tacos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13"/>
          <p:cNvSpPr/>
          <p:nvPr/>
        </p:nvSpPr>
        <p:spPr>
          <a:xfrm>
            <a:off x="914400" y="425196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b9690"/>
                </a:solidFill>
                <a:latin typeface="Calibri"/>
                <a:ea typeface="Calibri"/>
              </a:rPr>
              <a:t>La cercanía real se mide en servicios, no en fotos.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548640" y="45720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199" strike="noStrike">
                <a:solidFill>
                  <a:srgbClr val="8b1a1a"/>
                </a:solidFill>
                <a:latin typeface="Calibri"/>
                <a:ea typeface="Calibri"/>
              </a:rPr>
              <a:t>DOCUMENTO ESTRATÉGICO · USO INTERNO · MARZO 2026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2026-03-20T14:50:15Z</dcterms:created>
  <dc:creator>Coordinación de asesores</dc:creator>
  <dc:description/>
  <dc:language>es-ES</dc:language>
  <cp:lastModifiedBy/>
  <dcterms:modified xsi:type="dcterms:W3CDTF">2026-03-20T08:56:54Z</dcterms:modified>
  <cp:revision>2</cp:revision>
  <dc:subject>PptxGenJS Presentation</dc:subject>
  <dc:title>PPPP Nader Marzo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